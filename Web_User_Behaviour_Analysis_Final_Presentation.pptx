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8"/>
  </p:notesMasterIdLst>
  <p:sldIdLst>
    <p:sldId id="317" r:id="rId3"/>
    <p:sldId id="318" r:id="rId4"/>
    <p:sldId id="336" r:id="rId5"/>
    <p:sldId id="334" r:id="rId6"/>
    <p:sldId id="335" r:id="rId7"/>
    <p:sldId id="319" r:id="rId8"/>
    <p:sldId id="320" r:id="rId9"/>
    <p:sldId id="329" r:id="rId10"/>
    <p:sldId id="333" r:id="rId11"/>
    <p:sldId id="332" r:id="rId12"/>
    <p:sldId id="328" r:id="rId13"/>
    <p:sldId id="341" r:id="rId14"/>
    <p:sldId id="321" r:id="rId15"/>
    <p:sldId id="322" r:id="rId16"/>
    <p:sldId id="330" r:id="rId17"/>
    <p:sldId id="343" r:id="rId18"/>
    <p:sldId id="344" r:id="rId19"/>
    <p:sldId id="339" r:id="rId20"/>
    <p:sldId id="340" r:id="rId21"/>
    <p:sldId id="325" r:id="rId22"/>
    <p:sldId id="331" r:id="rId23"/>
    <p:sldId id="337" r:id="rId24"/>
    <p:sldId id="338" r:id="rId25"/>
    <p:sldId id="327" r:id="rId26"/>
    <p:sldId id="34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447" autoAdjust="0"/>
  </p:normalViewPr>
  <p:slideViewPr>
    <p:cSldViewPr snapToGrid="0">
      <p:cViewPr varScale="1">
        <p:scale>
          <a:sx n="77" d="100"/>
          <a:sy n="77" d="100"/>
        </p:scale>
        <p:origin x="95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428D1-2A66-4E3F-82DC-E14BF9688049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7BCE6-771D-41A1-B1FD-2F6CE909751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7BCE6-771D-41A1-B1FD-2F6CE9097517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7BCE6-771D-41A1-B1FD-2F6CE9097517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43843-8351-4CD6-9C2F-6C5AB137235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874395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anchor="ctr"/>
          <a:lstStyle/>
          <a:p>
            <a:pPr algn="ctr" fontAlgn="base"/>
            <a:r>
              <a:rPr sz="3600" b="1" dirty="0">
                <a:solidFill>
                  <a:srgbClr val="FFFFFF"/>
                </a:solidFill>
                <a:latin typeface="Times New Roman"/>
              </a:rPr>
              <a:t>FINAL YEAR PROJECT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97280" y="1051560"/>
            <a:ext cx="9966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Times New Roman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0">
                <a:solidFill>
                  <a:srgbClr val="000000"/>
                </a:solidFill>
                <a:latin typeface="Times New Roman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  <a:latin typeface="Times New Roman"/>
              </a:rPr>
              <a:t>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Times New Roman"/>
              </a:rPr>
              <a:t>WEB USER BEHAVIOUR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10881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  <a:latin typeface="Times New Roman"/>
              </a:rPr>
              <a:t>Using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39312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  <a:latin typeface="Times New Roman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68496"/>
            <a:ext cx="10149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  <a:latin typeface="Times New Roman"/>
              </a:rPr>
              <a:t>Abhineet Kr Sinha (2302220100009)
Viswajeet Kr Singh (2302220100210)
Sanjeet Kumar (2302220100163)
Amrit Raj (2302220100032)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56048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Semester - VII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103327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  <a:latin typeface="Times New Roman"/>
              </a:rPr>
              <a:t>Under the Supervision 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Times New Roman"/>
              </a:rPr>
              <a:t>Mr. Manik Chandra Panday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25312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ITS Engineering College, Greater Noida 201306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103314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3200" b="0">
                <a:solidFill>
                  <a:srgbClr val="FFFFFF"/>
                </a:solidFill>
                <a:latin typeface="Times New Roman"/>
              </a:rPr>
              <a:t>Outline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88265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51560" y="1325880"/>
            <a:ext cx="10149840" cy="4754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Alignment with UN Sustainable Development Goals (SDGs)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Introduction &amp; Motivation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Literature Survey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Research Gap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Project Objectives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Problem Statement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Proposed Work / Methodology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System Design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Implementation Details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Activity Planning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Expected Results &amp; Evaluation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Conclusion &amp; Future Work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Type of Project &amp; References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Appendix / Thank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866140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3200" b="0" dirty="0">
                <a:solidFill>
                  <a:srgbClr val="FFFFFF"/>
                </a:solidFill>
                <a:latin typeface="Times New Roman"/>
              </a:rPr>
              <a:t>Alignment with UN Sustainable Development Goals (SDGs)</a:t>
            </a:r>
            <a:endParaRPr lang="es-E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C:\Users\Admin\Desktop\images.jf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1430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u="sng">
                <a:solidFill>
                  <a:srgbClr val="000000"/>
                </a:solidFill>
                <a:latin typeface="Times New Roman"/>
              </a:rPr>
              <a:t>SDG 9 – Industry, Innovation &amp;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Goal: Build resilient infrastructure, promote inclusive and sustainable industrialization, and foster innovation.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u="none">
                <a:solidFill>
                  <a:srgbClr val="000000"/>
                </a:solidFill>
                <a:latin typeface="Times New Roman"/>
              </a:rPr>
              <a:t>Project Relevance &amp;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515600" cy="22860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Applies machine learning and data analytics to understand website user behaviour.</a:t>
            </a:r>
          </a:p>
          <a:p>
            <a:pPr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Builds a digital analytics platform integrating data collection, processing and visualization.</a:t>
            </a:r>
          </a:p>
          <a:p>
            <a:pPr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Supports data-driven decisions instead of relying only on basic traffic statistics.</a:t>
            </a:r>
          </a:p>
          <a:p>
            <a:pPr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Promotes open-source, scalable technologies suitable for academic and small-organization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u="none">
                <a:solidFill>
                  <a:srgbClr val="000000"/>
                </a:solidFill>
                <a:latin typeface="Times New Roman"/>
              </a:rPr>
              <a:t>Impact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3327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Times New Roman"/>
              </a:rPr>
              <a:t>Digital innovation  •  Intelligent analytics  •  Better website infrastructure  •  Data-driven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88455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3200" b="0">
                <a:solidFill>
                  <a:srgbClr val="FFFFFF"/>
                </a:solidFill>
                <a:latin typeface="Times New Roman"/>
              </a:rPr>
              <a:t>Alignment with UN Sustainable Development Goals (SDGs)</a:t>
            </a:r>
            <a:endParaRPr lang="es-E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1430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u="sng">
                <a:solidFill>
                  <a:srgbClr val="000000"/>
                </a:solidFill>
                <a:latin typeface="Times New Roman"/>
              </a:rPr>
              <a:t>SDG 8 – Decent Work &amp; Economic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Goal: Promote sustained, inclusive and sustainable economic growth, productivity and decent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u="none">
                <a:solidFill>
                  <a:srgbClr val="000000"/>
                </a:solidFill>
                <a:latin typeface="Times New Roman"/>
              </a:rPr>
              <a:t>Project Relevance &amp;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515600" cy="23774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Helps organizations understand engagement and browsing patterns to improve website performance.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Supports efficient use of digital resources through evidence-based website decisions.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Improves productivity by identifying popular pages, navigation trends and less engaging areas.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Builds practical skills in web development, data analytics, machine learning and visualization.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u="none">
                <a:solidFill>
                  <a:srgbClr val="000000"/>
                </a:solidFill>
                <a:latin typeface="Times New Roman"/>
              </a:rPr>
              <a:t>Impact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04688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Times New Roman"/>
              </a:rPr>
              <a:t>Higher productivity  •  Better resource use  •  Data-driven digital services  •  Future-ready skills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 txBox="1">
            <a:spLocks noChangeArrowheads="1"/>
          </p:cNvSpPr>
          <p:nvPr/>
        </p:nvSpPr>
        <p:spPr>
          <a:xfrm>
            <a:off x="0" y="-17780"/>
            <a:ext cx="12192000" cy="88455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3200" b="0">
                <a:solidFill>
                  <a:srgbClr val="FFFFFF"/>
                </a:solidFill>
                <a:latin typeface="Times New Roman"/>
              </a:rPr>
              <a:t>Alignment with UN Sustainable Development Goals (SDGs)</a:t>
            </a:r>
            <a:endParaRPr lang="es-E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840480" y="868680"/>
            <a:ext cx="4572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u="none">
                <a:solidFill>
                  <a:srgbClr val="000000"/>
                </a:solidFill>
                <a:latin typeface="Times New Roman"/>
              </a:rPr>
              <a:t>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Focus Area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SDG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Project Contribution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Innovation &amp; Research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SDG 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Uses machine learning and analytics to discover user behaviour patterns.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Digital Infrastructure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SDG 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Integrates web tracking, database processing and interactive visualization.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Productivity &amp; Growth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SDG 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Supports better website decisions and improved digital service performance.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Skill Development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SDG 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Combines web development, Python, data analytics and ML skills.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Times New Roman"/>
              </a:rPr>
              <a:t>Overall alignment: digital innovation + productivity + practical technology adoption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1080770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3200" b="0">
                <a:solidFill>
                  <a:srgbClr val="FFFFFF"/>
                </a:solidFill>
                <a:latin typeface="Times New Roman"/>
              </a:rPr>
              <a:t>Introduction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241935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1430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Why Web User Behaviour Analysis?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424160" cy="43891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Websites generate valuable interaction data through page visits, clicks, searches, navigation paths and session duration.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Traditional analytics often focus on basic measures such as visitor count, page views and session duration.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These measures alone may not reveal browsing patterns, user preferences or how visitors move across a website.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Data analytics and machine learning can convert raw interaction data into meaningful behavioural insights.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The proposed system aims to help website administrators improve usability, engagement and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0"/>
            <a:ext cx="12192000" cy="904240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3200" b="0">
                <a:solidFill>
                  <a:srgbClr val="FFFFFF"/>
                </a:solidFill>
                <a:latin typeface="Times New Roman"/>
              </a:rPr>
              <a:t>Introduction &amp; Motivation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00800"/>
            <a:ext cx="12191997" cy="437111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1430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424160" cy="4297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Website owners need more than simple visitor statistics to understand user interaction.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Identifying browsing patterns and popular pages can guide website improvement.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User engagement analysis can support better customer satisfaction and navigation decisions.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Many analytics solutions are expensive or offer limited customization for small organizations and educational projects.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The proposed platform focuses on a simple, intelligent and cost-effective analytics workflow using open-source technologies.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5623560"/>
            <a:ext cx="83210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Times New Roman"/>
              </a:rPr>
              <a:t>Collect  →  Process  →  Analyze  →  Visualize  →  Decide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0"/>
            <a:ext cx="12192000" cy="97980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3200" b="0">
                <a:solidFill>
                  <a:srgbClr val="FFFFFF"/>
                </a:solidFill>
                <a:latin typeface="Times New Roman"/>
              </a:rPr>
              <a:t>Literature Survey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361043"/>
            <a:ext cx="12191997" cy="476868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1430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Key Research Areas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111556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696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Study / Area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Key Insight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Limitation / Gap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Srivastava et al. (2000)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Web Usage Mining discovers access patterns and navigation paths from web data.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Foundational work; not focused on modern interactive dashboards.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Mobasher et al. (2000)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Web usage mining can support personalized user experiences.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Higher complexity and limited general-purpose monitoring.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Kosala &amp; Blockeel (2000)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Classifies Web Content, Structure and Usage Mining approaches.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Primarily a conceptual survey.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Pedregosa et al. (2011)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Scikit-learn supports preprocessing, clustering and behavioural modelling.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Library-level support; no dedicated web tracking interface.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0"/>
            <a:ext cx="12192000" cy="103314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3200" b="0">
                <a:solidFill>
                  <a:srgbClr val="FFFFFF"/>
                </a:solidFill>
                <a:latin typeface="Times New Roman"/>
              </a:rPr>
              <a:t>Literature Survey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0" y="6381132"/>
            <a:ext cx="12191997" cy="476868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1430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Technology &amp; Research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424160" cy="4206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Web Usage Mining and Machine Learning are widely used to discover browsing patterns and group users with similar behaviour.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Visualization tools such as Matplotlib, Seaborn and Plotly make analytical results easier to interpret.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Lightweight open-source stacks such as Flask and Streamlit can help small teams build analytical applications without commercial licensing overhead.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An integrated workflow combining data collection, preprocessing, machine learning and interactive visualization is less common.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The proposed project focuses on bringing these components together in one cost-effective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C00000"/>
                </a:solidFill>
                <a:latin typeface="Times New Roman"/>
              </a:rPr>
              <a:t>Key direction: integrated web analytics rather than isolated statistics or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B9655CDD-0168-37BA-6B3F-78819027ABCC}"/>
              </a:ext>
            </a:extLst>
          </p:cNvPr>
          <p:cNvSpPr txBox="1">
            <a:spLocks noChangeArrowheads="1"/>
          </p:cNvSpPr>
          <p:nvPr/>
        </p:nvSpPr>
        <p:spPr>
          <a:xfrm>
            <a:off x="19685" y="0"/>
            <a:ext cx="12172315" cy="104394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184573"/>
            <a:ext cx="12192000" cy="60134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4400" b="1" dirty="0">
                <a:solidFill>
                  <a:srgbClr val="FFFFFF"/>
                </a:solidFill>
                <a:latin typeface="Times New Roman"/>
              </a:rPr>
              <a:t>Research Gap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639117"/>
            <a:ext cx="12191997" cy="198794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1430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Identified Research / Application Gap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749509"/>
            <a:ext cx="502920" cy="50292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31221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Times New Roman"/>
              </a:rPr>
              <a:t>Fragmented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749509"/>
            <a:ext cx="7223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dirty="0">
                <a:solidFill>
                  <a:srgbClr val="000000"/>
                </a:solidFill>
                <a:latin typeface="Times New Roman"/>
              </a:rPr>
              <a:t>Many existing systems emphasize traffic statistics or predefined reports.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09629"/>
            <a:ext cx="502920" cy="50292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91341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Times New Roman"/>
              </a:rPr>
              <a:t>Limited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703619"/>
            <a:ext cx="7223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dirty="0">
                <a:solidFill>
                  <a:srgbClr val="000000"/>
                </a:solidFill>
                <a:latin typeface="Times New Roman"/>
              </a:rPr>
              <a:t>Data collection, preprocessing, ML and visualization are often separate components.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69749"/>
            <a:ext cx="502920" cy="50292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651461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Times New Roman"/>
              </a:rPr>
              <a:t>Limited customization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651461"/>
            <a:ext cx="7223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dirty="0">
                <a:solidFill>
                  <a:srgbClr val="000000"/>
                </a:solidFill>
                <a:latin typeface="Times New Roman"/>
              </a:rPr>
              <a:t>Small organizations may face cost or complexity barriers with advanced analytics suites.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629869"/>
            <a:ext cx="502920" cy="50292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611581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Times New Roman"/>
              </a:rPr>
              <a:t>Actionable insight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618164"/>
            <a:ext cx="7223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dirty="0">
                <a:solidFill>
                  <a:srgbClr val="000000"/>
                </a:solidFill>
                <a:latin typeface="Times New Roman"/>
              </a:rPr>
              <a:t>Basic metrics do not fully explain navigation patterns, popular pages or user engagement.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Times New Roman"/>
              </a:rPr>
              <a:t>Proposed response: a single platform that connects tracking → processing → ML → dashboard → insights.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0"/>
            <a:ext cx="12270105" cy="102425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3200" b="0">
                <a:solidFill>
                  <a:srgbClr val="FFFFFF"/>
                </a:solidFill>
                <a:latin typeface="Times New Roman"/>
              </a:rPr>
              <a:t>Project Objectives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1430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Core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515600" cy="44805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Study existing web analytics techniques and user behaviour analysis methods through a literature survey.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Develop a web-based application that collects, processes and analyses website user activity.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Use data analytics and machine learning to identify user behaviour patterns.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Design an interactive dashboard to visualize activity and support website administrators.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Evaluate the proposed analytical approach using appropriate performance measures such as accuracy, precision, recall, F1-score and/or MSE.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C00000"/>
                </a:solidFill>
                <a:latin typeface="Times New Roman"/>
              </a:rPr>
              <a:t>Objective focus: practical analytics + machine learning +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0"/>
            <a:ext cx="12270105" cy="102425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3200" b="0">
                <a:solidFill>
                  <a:srgbClr val="FFFFFF"/>
                </a:solidFill>
                <a:latin typeface="Times New Roman"/>
              </a:rPr>
              <a:t>Problem Statement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1430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</a:rPr>
              <a:t>Organizations collect large volumes of website interaction data, but basic analytics often provide only surface-level statistics.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5120640" cy="246888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Times New Roman"/>
              </a:rPr>
              <a:t>EXISTING CHALLENGES
• Basic metrics do not fully explain user journeys.
• Difficult to identify navigation patterns and engagement.
• Advanced solutions may be costly or complex.
• Limited customization for small organizations.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514600"/>
            <a:ext cx="5120640" cy="2468880"/>
          </a:xfrm>
          <a:prstGeom prst="roundRect">
            <a:avLst/>
          </a:prstGeom>
          <a:solidFill>
            <a:srgbClr val="FAFA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Times New Roman"/>
              </a:rPr>
              <a:t>PROPOSED RESPONSE
• Collect interaction data.
• Store and preprocess activity.
• Discover behaviour patterns using ML.
• Present insights through an interactive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Times New Roman"/>
              </a:rPr>
              <a:t>Need: a simple, intelligent and cost-effective platform for understanding visitor behaviour and improving website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0"/>
            <a:ext cx="12265025" cy="103314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3200" b="0">
                <a:solidFill>
                  <a:srgbClr val="FFFFFF"/>
                </a:solidFill>
                <a:latin typeface="Times New Roman"/>
              </a:rPr>
              <a:t>Proposed Work / Methodology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1430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Proposed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880360" cy="150876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1. Data Collection
Record page visits, clicks, navigation and session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737360"/>
            <a:ext cx="2880360" cy="150876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2. Storage
Store user activity in MySQL/MongoDB for further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37360"/>
            <a:ext cx="2880360" cy="150876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3. Preprocessing
Clean and prepare data using Pandas and NumPy.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2880360" cy="150876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4. Machine Learning
Apply Scikit-learn techniques to identify behaviour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840480"/>
            <a:ext cx="2880360" cy="150876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5. Visualization
Build interactive dashboards using Streamlit, Matplotlib, Seaborn and Plotly.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840480"/>
            <a:ext cx="2880360" cy="150876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6. Insights
Generate reports to support website usability and performance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105346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/>
            <a:r>
              <a:rPr sz="3200" b="0">
                <a:solidFill>
                  <a:srgbClr val="FFFFFF"/>
                </a:solidFill>
                <a:latin typeface="Times New Roman"/>
              </a:rPr>
              <a:t>Proposed Architecture / Methodology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22960" y="105156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Flowchart of the Proposed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828800" cy="114300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User Interaction
Page visits • clicks • navigation •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1828800" cy="114300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Data Collection
Capture activity from the website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828800"/>
            <a:ext cx="1828800" cy="114300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 dirty="0">
                <a:solidFill>
                  <a:srgbClr val="000000"/>
                </a:solidFill>
                <a:latin typeface="Times New Roman"/>
              </a:rPr>
              <a:t>Database
MySQL / MongoDB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3931920"/>
            <a:ext cx="1828800" cy="114300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 dirty="0">
                <a:solidFill>
                  <a:srgbClr val="000000"/>
                </a:solidFill>
                <a:latin typeface="Times New Roman"/>
              </a:rPr>
              <a:t>Preprocessing
Pandas + NumPy cleaning and preparation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3931920"/>
            <a:ext cx="1828800" cy="114300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Machine Learning
Scikit-learn behaviour analysis / clustering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931920"/>
            <a:ext cx="1828800" cy="114300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Dashboard
Streamlit + Plotly + Matplotlib + Seaborn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931920"/>
            <a:ext cx="1828800" cy="114300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Insights
Reports, popular pages, engagement &amp; performance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7440" y="2395728"/>
            <a:ext cx="3657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2395728"/>
            <a:ext cx="3657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endCxn id="10" idx="0"/>
          </p:cNvCxnSpPr>
          <p:nvPr/>
        </p:nvCxnSpPr>
        <p:spPr>
          <a:xfrm flipH="1">
            <a:off x="2560320" y="2971800"/>
            <a:ext cx="3291840" cy="96012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  <a:stCxn id="10" idx="3"/>
          </p:cNvCxnSpPr>
          <p:nvPr/>
        </p:nvCxnSpPr>
        <p:spPr>
          <a:xfrm flipV="1">
            <a:off x="3474720" y="4498848"/>
            <a:ext cx="365760" cy="457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0" y="4498848"/>
            <a:ext cx="3657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4498848"/>
            <a:ext cx="3657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101409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/>
            <a:r>
              <a:rPr sz="3200" b="0">
                <a:solidFill>
                  <a:srgbClr val="FFFFFF"/>
                </a:solidFill>
                <a:latin typeface="Times New Roman"/>
              </a:rPr>
              <a:t>System Design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4" name="Picture 3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05156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High-Level System Components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Layer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Technologies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Role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Frontend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HTML • CSS • JavaScript • Bootstrap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Responsive user interface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Backend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Python Flask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Request handling and application logic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Database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MySQL / MongoDB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User activity and session storage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Analytics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Pandas • NumPy • Scikit-learn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Preprocessing and behaviour analysis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Dashboard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Streamlit • Plotly • Matplotlib • Seaborn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Interactive visualization and reporting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C00000"/>
                </a:solidFill>
                <a:latin typeface="Times New Roman"/>
              </a:rPr>
              <a:t>Design principle: modular components connected through a clear data-processing workflow.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101409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/>
            <a:r>
              <a:rPr sz="3200" b="0">
                <a:solidFill>
                  <a:srgbClr val="FFFFFF"/>
                </a:solidFill>
                <a:latin typeface="Times New Roman"/>
              </a:rPr>
              <a:t>System Design</a:t>
            </a: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914400" y="105156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Data Flow &amp; Analytical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31720"/>
            <a:ext cx="1508760" cy="132588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Website
User interactions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2999232"/>
            <a:ext cx="4114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31720" y="2331720"/>
            <a:ext cx="1508760" cy="132588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Tracking
Events + sessions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79" y="2999232"/>
            <a:ext cx="411481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51960" y="2331720"/>
            <a:ext cx="1508760" cy="132588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Database
Stored activity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999232"/>
            <a:ext cx="4114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200" y="2331720"/>
            <a:ext cx="1508760" cy="132588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Processing
Clean + transform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80960" y="2999232"/>
            <a:ext cx="4114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92440" y="2331720"/>
            <a:ext cx="1508760" cy="132588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ML
Behaviour patterns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200" y="2999232"/>
            <a:ext cx="4114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12680" y="2331720"/>
            <a:ext cx="1508760" cy="1325880"/>
          </a:xfrm>
          <a:prstGeom prst="round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Dashboard
Charts +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6052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u="none">
                <a:solidFill>
                  <a:srgbClr val="000000"/>
                </a:solidFill>
                <a:latin typeface="Times New Roman"/>
              </a:rPr>
              <a:t>Key Data Elements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26280"/>
            <a:ext cx="10332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  <a:latin typeface="Times New Roman"/>
              </a:rPr>
              <a:t>Page visits  •  Click events  •  Navigation paths  •  Session duration  •  User engagement  •  Frequently visited pages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Times New Roman"/>
              </a:rPr>
              <a:t>Outputs: behavioural patterns, website usage insights and performance-oriented reports.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101409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/>
            <a:r>
              <a:rPr sz="3200" b="0">
                <a:solidFill>
                  <a:srgbClr val="FFFFFF"/>
                </a:solidFill>
                <a:latin typeface="Times New Roman"/>
              </a:rPr>
              <a:t>Implementation Details</a:t>
            </a:r>
            <a:endParaRPr lang="en-US" alt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4" name="Picture 3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05156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Technology Stack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63040"/>
          <a:ext cx="1106424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645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Component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Technology / Tool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Purpose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Frontend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HTML, CSS, JavaScript, Bootstrap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Responsive web interface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Backend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Python Flask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Application and server-side logic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Database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MySQL / MongoDB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Activity and session data storage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Data Processing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Pandas, NumPy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Cleaning, transformation and preparation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Machine Learning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Scikit-learn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Behaviour pattern analysis / clustering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Dashboard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Streamlit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Interactive analytics interface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Visualization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Matplotlib, Seaborn, Plotly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Charts and graphical analysis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107124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/>
            <a:r>
              <a:rPr sz="3200" b="0">
                <a:solidFill>
                  <a:srgbClr val="FFFFFF"/>
                </a:solidFill>
                <a:latin typeface="Times New Roman"/>
              </a:rPr>
              <a:t>Methodology / Planning of Work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4" name="Picture 3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51560" y="105156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Phase-Wise Development Plan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201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Phase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Activity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Work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Phase 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Requirement Analysis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Study existing analytics systems, define requirements and behaviour metrics.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Phase 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System Design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Design architecture, database schema and user interface.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Phase 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Development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Build frontend with HTML/CSS/JS/Bootstrap and backend with Flask.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Phase 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Data + ML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Store activity, preprocess with Pandas/NumPy and apply Scikit-learn.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Phase 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Dashboard + Testing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Develop Streamlit dashboard, visualizations and perform testing.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Phase 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Deployment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Deploy on Render or Heroku and prepare final documentation.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103314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/>
            <a:r>
              <a:rPr sz="3200" b="0">
                <a:solidFill>
                  <a:srgbClr val="FFFFFF"/>
                </a:solidFill>
                <a:latin typeface="Times New Roman"/>
              </a:rPr>
              <a:t>Activity Chart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05156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Semester-Wise Activity Plan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Activity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Semester VII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Semester VIII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Project Topic Selection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Literature Survey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Requirement Analysis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System Design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Database Design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Frontend Development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Backend Development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Database Integration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Data Collection &amp; Preprocessing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Machine Learning Model Development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Dashboard Development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Data Visualization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Testing &amp; Bug Fixing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Deployment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Documentation &amp; Final Report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239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Project Presentation &amp; Viva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✓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-64135" y="-17780"/>
            <a:ext cx="12256135" cy="116649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/>
            <a:r>
              <a:rPr sz="3200" b="0">
                <a:solidFill>
                  <a:srgbClr val="FFFFFF"/>
                </a:solidFill>
                <a:latin typeface="Times New Roman"/>
              </a:rPr>
              <a:t>Expected Results &amp; Evaluation</a:t>
            </a:r>
            <a:endParaRPr lang="es-E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4" name="Picture 3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265" y="120015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05156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Expected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2918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Clearer understanding of website browsing </a:t>
            </a:r>
            <a:r>
              <a:rPr dirty="0" err="1"/>
              <a:t>behaviour</a:t>
            </a:r>
            <a:r>
              <a:rPr dirty="0"/>
              <a:t> and navigation patterns.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Identification of frequently visited and less engaging pages.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Interactive visualizations that make user activity easier to interpret.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Machine-learning-based </a:t>
            </a:r>
            <a:r>
              <a:rPr dirty="0" err="1"/>
              <a:t>behaviour</a:t>
            </a:r>
            <a:r>
              <a:rPr dirty="0"/>
              <a:t> pattern discovery to support data-driven decisions.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Cost-effective analytics workflow using open-source technologies.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u="none">
                <a:solidFill>
                  <a:srgbClr val="000000"/>
                </a:solidFill>
                <a:latin typeface="Times New Roman"/>
              </a:rPr>
              <a:t>Evaluation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Times New Roman"/>
              </a:rPr>
              <a:t>The synopsis proposes evaluating the analytical approach using appropriate measures such as accuracy, precision, recall, F1-score and/or MSE, depending on the selected task.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104203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/>
            <a:r>
              <a:rPr sz="3200" b="0">
                <a:solidFill>
                  <a:srgbClr val="FFFFFF"/>
                </a:solidFill>
                <a:latin typeface="Times New Roman"/>
              </a:rPr>
              <a:t>Conclusion &amp; Future Work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051560"/>
            <a:ext cx="4846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60" cy="35661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The project proposes a unified web analytics platform for collecting, processing, </a:t>
            </a:r>
            <a:r>
              <a:rPr dirty="0" err="1"/>
              <a:t>analysing</a:t>
            </a:r>
            <a:r>
              <a:rPr dirty="0"/>
              <a:t> and visualizing user activity.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It combines Flask, database storage, Python data tools, machine learning and </a:t>
            </a:r>
            <a:r>
              <a:rPr dirty="0" err="1"/>
              <a:t>Streamlit</a:t>
            </a:r>
            <a:r>
              <a:rPr dirty="0"/>
              <a:t>-based visualization.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The expected outcome is better understanding of visitor </a:t>
            </a:r>
            <a:r>
              <a:rPr dirty="0" err="1"/>
              <a:t>behaviour</a:t>
            </a:r>
            <a:r>
              <a:rPr dirty="0"/>
              <a:t> and improved website decision-making.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4846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54480"/>
            <a:ext cx="4937760" cy="35661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Complete full-stack implementation and deployment.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Expand behavioural modelling and dashboard capabilities.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Validate the system with broader real-world interaction datasets.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Improve customization for different websites and organizations.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Times New Roman"/>
              </a:rPr>
              <a:t>Overall vision: a simple, intelligent and cost-effective platform for actionable web user insights.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1122045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/>
            <a:r>
              <a:rPr sz="3200" b="0">
                <a:solidFill>
                  <a:srgbClr val="FFFFFF"/>
                </a:solidFill>
                <a:latin typeface="Times New Roman"/>
              </a:rPr>
              <a:t>Type of Project &amp; Expected Benefits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051560"/>
            <a:ext cx="4846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Type of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937760" cy="33832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Application-Based Project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Supporting Research Component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Practical analytics platform grounded in Web Usage Mining literature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Combines a deployable web application with analytical and visualization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4846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Expected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00200"/>
            <a:ext cx="4937760" cy="33832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Improved understanding of browsing behaviour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Better website performance and usability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Interactive dashboards for user activity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Data-driven decision-making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Enhanced user experience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Cost-effective open-source solution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0" y="-17780"/>
            <a:ext cx="12192000" cy="1071880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/>
            <a:r>
              <a:rPr sz="3200" b="0">
                <a:solidFill>
                  <a:srgbClr val="FFFFFF"/>
                </a:solidFill>
                <a:latin typeface="Times New Roman"/>
              </a:rPr>
              <a:t>References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9" name="Picture 8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85800" y="1234440"/>
            <a:ext cx="10972800" cy="405187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sz="1700" dirty="0"/>
              <a:t>• [1] J. Srivastava, R. Cooley, M. Deshpande, and P.-N. Tan, “Web usage mining: Discovery and applications of usage patterns from web data,” SIGKDD Explorations, 2000.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sz="1700" dirty="0"/>
              <a:t>• [2] F. Pedregosa et al., “Scikit-learn: Machine learning in Python,” Journal of Machine Learning Research, 2011.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sz="1700" dirty="0"/>
              <a:t>• [3] J. D. Hunter, “Matplotlib: A 2D graphics environment,” Computing in Science &amp; Engineering, 2007.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sz="1700" dirty="0"/>
              <a:t>• [4] M. L. Waskom, “Seaborn: Statistical data visualization,” Journal of Open Source Software, 2021.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sz="1700" dirty="0"/>
              <a:t>• [5] W. McKinney, “Data structures for statistical computing in Python,” Proceedings of the Python in Science Conference, 2010.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sz="1700" dirty="0"/>
              <a:t>• [6] </a:t>
            </a:r>
            <a:r>
              <a:rPr sz="1700" dirty="0" err="1"/>
              <a:t>Plotly</a:t>
            </a:r>
            <a:r>
              <a:rPr sz="1700" dirty="0"/>
              <a:t> Technologies Inc., “Collaborative data science,” 2015. Online.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sz="1700" dirty="0"/>
              <a:t>• [7] </a:t>
            </a:r>
            <a:r>
              <a:rPr sz="1700" dirty="0" err="1"/>
              <a:t>Streamlit</a:t>
            </a:r>
            <a:r>
              <a:rPr sz="1700" dirty="0"/>
              <a:t> Inc., “</a:t>
            </a:r>
            <a:r>
              <a:rPr sz="1700" dirty="0" err="1"/>
              <a:t>Streamlit</a:t>
            </a:r>
            <a:r>
              <a:rPr sz="1700" dirty="0"/>
              <a:t> documentation,” 2024. Online.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sz="1700" dirty="0"/>
              <a:t>• [8] Pallets Projects, “Flask documentation,” 2024. Online.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sz="1700" dirty="0"/>
              <a:t>• [9] B. Mobasher, R. Cooley, and J. Srivastava, “Automatic personalization based on web usage mining,” Communications of the ACM, 2000.</a:t>
            </a:r>
          </a:p>
          <a:p>
            <a:pPr>
              <a:spcAft>
                <a:spcPts val="5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sz="1700" dirty="0"/>
              <a:t>• [10] R. Kosala and H. </a:t>
            </a:r>
            <a:r>
              <a:rPr sz="1700" dirty="0" err="1"/>
              <a:t>Blockeel</a:t>
            </a:r>
            <a:r>
              <a:rPr sz="1700" dirty="0"/>
              <a:t>, “Web mining research: A survey,” SIGKDD Explorations, 2000.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 noChangeArrowheads="1"/>
          </p:cNvSpPr>
          <p:nvPr/>
        </p:nvSpPr>
        <p:spPr>
          <a:xfrm>
            <a:off x="19685" y="0"/>
            <a:ext cx="12172315" cy="1043940"/>
          </a:xfrm>
          <a:prstGeom prst="rect">
            <a:avLst/>
          </a:prstGeom>
          <a:solidFill>
            <a:srgbClr val="C00000"/>
          </a:solidFill>
        </p:spPr>
        <p:txBody>
          <a:bodyPr wrap="square" lIns="1371600" tIns="0" bIns="0" anchor="ctr"/>
          <a:lstStyle/>
          <a:p>
            <a:pPr algn="l" fontAlgn="base"/>
            <a:r>
              <a:rPr sz="3200" b="0">
                <a:solidFill>
                  <a:srgbClr val="FFFFFF"/>
                </a:solidFill>
                <a:latin typeface="Times New Roman"/>
              </a:rPr>
              <a:t>Appendix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19879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2" name="Picture 1" descr="C:\Users\Admin\Desktop\images.jf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914400" y="105156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u="none">
                <a:solidFill>
                  <a:srgbClr val="000000"/>
                </a:solidFill>
                <a:latin typeface="Times New Roman"/>
              </a:rPr>
              <a:t>Project Contribution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554480"/>
          <a:ext cx="10835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6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Area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Contribution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Web Analytics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Collects and analyzes user activity such as visits, clicks and sessions.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Data Analytics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Preprocesses and transforms interaction data for analysis.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Machine Learning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Discovers user behaviour patterns from processed activity data.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Visualization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Presents insights through interactive charts and dashboards.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Practical Impact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Supports website usability, performance monitoring and data-driven decisions.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C00000"/>
                </a:solidFill>
                <a:latin typeface="Times New Roman"/>
              </a:rPr>
              <a:t>Application-Based + Research-Oriented project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5436" y="2002049"/>
            <a:ext cx="1033272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800" b="1" dirty="0">
                <a:solidFill>
                  <a:srgbClr val="000000"/>
                </a:solidFill>
                <a:latin typeface="Times New Roman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4827" y="2993666"/>
            <a:ext cx="103327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4827" y="3999506"/>
            <a:ext cx="103327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C00000"/>
                </a:solidFill>
                <a:latin typeface="Times New Roman"/>
              </a:rPr>
              <a:t>WEB USER BEHAVIOUR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4827" y="4410986"/>
            <a:ext cx="103327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Times New Roman"/>
              </a:rPr>
              <a:t>ITS Engineering College, Greater Noida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EBB049F-D477-755F-BCDD-016E92721F86}"/>
              </a:ext>
            </a:extLst>
          </p:cNvPr>
          <p:cNvSpPr txBox="1">
            <a:spLocks noChangeArrowheads="1"/>
          </p:cNvSpPr>
          <p:nvPr/>
        </p:nvSpPr>
        <p:spPr>
          <a:xfrm>
            <a:off x="19685" y="0"/>
            <a:ext cx="12172315" cy="104394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087991-A5A8-BCF4-7CBB-93895F65C837}"/>
              </a:ext>
            </a:extLst>
          </p:cNvPr>
          <p:cNvSpPr txBox="1">
            <a:spLocks noChangeArrowheads="1"/>
          </p:cNvSpPr>
          <p:nvPr/>
        </p:nvSpPr>
        <p:spPr>
          <a:xfrm>
            <a:off x="19879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</a:t>
            </a:r>
            <a:r>
              <a:rPr lang="en-IN" sz="2400" b="1" dirty="0">
                <a:solidFill>
                  <a:schemeClr val="bg1"/>
                </a:solidFill>
              </a:rPr>
              <a:t>                                                     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3" name="Picture 12" descr="C:\Users\Admin\Desktop\images.jfif">
            <a:extLst>
              <a:ext uri="{FF2B5EF4-FFF2-40B4-BE49-F238E27FC236}">
                <a16:creationId xmlns:a16="http://schemas.microsoft.com/office/drawing/2014/main" id="{000092D3-1979-91B0-118D-CDBD55707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25" y="-17780"/>
            <a:ext cx="1197610" cy="82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2356</Words>
  <Application>Microsoft Office PowerPoint</Application>
  <PresentationFormat>Widescreen</PresentationFormat>
  <Paragraphs>364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Tinos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Avijeet Singh</dc:creator>
  <cp:lastModifiedBy>Abhineet Sinha</cp:lastModifiedBy>
  <cp:revision>43</cp:revision>
  <dcterms:created xsi:type="dcterms:W3CDTF">2024-12-30T17:50:00Z</dcterms:created>
  <dcterms:modified xsi:type="dcterms:W3CDTF">2026-08-31T09:52:21Z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BA40921C4E334E42ACA9B5520F6BE885_12</vt:lpwstr>
  </property>
  <property fmtid="{D5CDD505-2E9C-101B-9397-08002B2CF9AE}" pid="3" name="KSOProductBuildVer">
    <vt:lpwstr>1033-12.1.0.25830</vt:lpwstr>
  </property>
</Properties>
</file>